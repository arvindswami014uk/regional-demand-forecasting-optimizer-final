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Regional Demand Forecasting and Inventory Placement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900"/>
                </a:solidFill>
              </a:rPr>
              <a:t>Amazon-Inspired Capstone  |  Supply Chain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Arvind Swami  |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36208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Python  |  LightGBM  |  Prophet  |  HiGHS LP  |  Plotly  |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The Problem  —  Inventory Misplacement Costs $406K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040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F3E"/>
                </a:solidFill>
              </a:rPr>
              <a:t>Key Facts:</a:t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>&gt;  8,926,517 units held across 5 warehouses</a:t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>&gt;  Utilisation range: 998% to 1,604% of nominal capacity</a:t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>&gt;  WH-SOUTH at maximum: 1,604% utilisation</a:t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>&gt;  Average days of cover: 11,461 days  (target: 30 days)</a:t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>&gt;  Starting inventory value: $593,317,335</a:t>
            </a:r>
          </a:p>
          <a:p>
            <a:pPr algn="l"/>
            <a:r>
              <a:rPr sz="1300" b="0" i="0">
                <a:solidFill>
                  <a:srgbClr val="232F3E"/>
                </a:solidFill>
              </a:rPr>
              <a:t>&gt;  Every week of delay costs the business $2.8M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188720"/>
            <a:ext cx="4251960" cy="2331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$406,381.70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9339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per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5915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holding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7889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OVERSTOCK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703320"/>
            <a:ext cx="4251960" cy="1737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794760"/>
            <a:ext cx="4069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This is NOT a routing problem.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This is a capital management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problem requiring staged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inventory liquidation.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A 5-Stage Analytics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" y="1188720"/>
            <a:ext cx="1993392" cy="2651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80160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900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627632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
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" y="2286000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5 datasets
5,000 SKUs
6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2240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2" y="1188720"/>
            <a:ext cx="1993392" cy="2651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280160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900"/>
                </a:solidFill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627632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EDA +
Stat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286000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Mann-Whitney
VIF, ACF
Shapiro-Wilk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240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0872" y="1188720"/>
            <a:ext cx="1993392" cy="2651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1280160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900"/>
                </a:solidFill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627632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2286000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LightGBM
+ Prophet
12-wk horizon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240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1188720"/>
            <a:ext cx="1993392" cy="2651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280160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900"/>
                </a:solidFill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1627632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LP
Optimiser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286000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HiGHS solver
120 variables
29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240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&gt;&gt;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79992" y="1188720"/>
            <a:ext cx="1993392" cy="26517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1280160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900"/>
                </a:solidFill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1627632"/>
            <a:ext cx="1901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
+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286000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Plotly
Power BI
Exec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" y="4041648"/>
            <a:ext cx="11585448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096512"/>
            <a:ext cx="11402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32F3E"/>
                </a:solidFill>
              </a:rPr>
              <a:t>Python  |  LightGBM  |  Prophet  |  HiGHS  |  FAISS RAG  |  Groq LLM  |  Plotly  |  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" y="4773168"/>
            <a:ext cx="1158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End-to-end pipeline: raw data  -&gt;  cleaned datasets  -&gt;  EDA  -&gt;  ML forecast  -&gt;  LP optimisation  -&gt;  dashboard  -&gt;  executive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5 Datasets  |  5,000 SKUs  |  4 Regions  |  6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488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Shape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Grain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Key Fields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daily_demand_clean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5,000 x 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transaction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date, sku_id, units_ordered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event_calendar_clean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565 x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holiday_peak, prime_event, marketing_push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sku_master_clean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5,000 x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SKU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category, unit_cost, volume_m3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warehouses_clean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 x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warehouse_id, capacity, daily_cost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wh_region_costs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20 x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 x region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ship_cost_per_unit, lead_time_days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794760"/>
            <a:ext cx="3566160" cy="9144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38587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643,000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427024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WH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3794760"/>
            <a:ext cx="3566160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38587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$593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427024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Starting Inventory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3867912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858768"/>
            <a:ext cx="3685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 WH | 4 Regions | 6 Cat.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270248"/>
            <a:ext cx="3685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Network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919472"/>
            <a:ext cx="11548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Synthetic dataset  |  SKU-100000 to SKU-104999  |  81 weeks of demand history  |  2024-W27 to 2026-W03  |  modeling_dataset: 1,540 x 42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468112"/>
            <a:ext cx="1847088" cy="8686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5" y="5486400"/>
            <a:ext cx="17739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ELECTRONICS
35.22%
A-class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2848" y="5468112"/>
            <a:ext cx="1847088" cy="8686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9424" y="5486400"/>
            <a:ext cx="17739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TOYS
23.24%
A-class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5655" y="5468112"/>
            <a:ext cx="18470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1" y="5486400"/>
            <a:ext cx="17739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PET
14.61%
B-class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463" y="5468112"/>
            <a:ext cx="18470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39" y="5486400"/>
            <a:ext cx="17739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KITCHEN
14.01%
B-class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271" y="5468112"/>
            <a:ext cx="1847088" cy="8686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7" y="5486400"/>
            <a:ext cx="17739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HOME
9.57%
C-class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5468112"/>
            <a:ext cx="1847088" cy="8686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0655" y="5486400"/>
            <a:ext cx="17739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BEAUTY
3.35%
C-class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Promotions Drive 65-71% Demand Uplift  —  Confirmed p&lt;0.0001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2103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161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Holiday 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276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p &lt; 0.0001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03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+64.8%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Mann-Whitney U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143000"/>
            <a:ext cx="3657600" cy="2103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161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Marketing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6276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p &lt; 0.0001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+71.4%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Mann-Whitney U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143000"/>
            <a:ext cx="3657600" cy="2103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2161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Residual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6276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W = 0.7247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103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NON-NORMAL kurtosis=44.3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Shapiro-Wilk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56432"/>
            <a:ext cx="11548872" cy="2697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47872"/>
            <a:ext cx="11274552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F3E"/>
                </a:solidFill>
              </a:rPr>
              <a:t>Key modelling implications: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VIF: 19 features with severe multicollinearity (VIF &gt; 10)  -&gt;  Linear Regression fails, gradient boosting required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ACF/PACF: 27 significant lag features confirmed (81 weeks, lag structure up to lag-27)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Correlation matrix: 13 variable pairs with |r| &gt; 0.85  -&gt;  lag features must be carefully selected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PI Calibration: 80.0% empirical coverage  -&gt;  prediction intervals are well-calibrated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Non-normal residuals (kurtosis=44.3)  -&gt;  1.20x robustness buffer applied to all safety stock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LightGBM Outperforms All Benchmarks  —  WAPE 21.5%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4887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812"/>
                <a:gridCol w="1924812"/>
                <a:gridCol w="1924812"/>
                <a:gridCol w="1924812"/>
                <a:gridCol w="1924812"/>
                <a:gridCol w="1924812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WAPE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LightGBM (CV)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33.37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50.13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21.5%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0.7554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Production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8603.55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9402.89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426.13%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-67.9571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Naive 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44.49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62.20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69.9%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-1.91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Linear 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141.21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182.43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-24.03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493008"/>
            <a:ext cx="11548872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53872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32F3E"/>
                </a:solidFill>
              </a:rPr>
              <a:t>Note: Prophet evaluated on aggregated total demand (all 24 segments summed). LightGBM evaluated per-segment (24 individual models). Scale difference confirms per-segment approach is superior.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114800"/>
            <a:ext cx="1154887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F3E"/>
                </a:solidFill>
              </a:rPr>
              <a:t>Key findings: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LightGBM beats Naive: +25.0% MAE  /  +69.3% WAPE improvement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LightGBM beats Linear Reg: +76.4% MAE  /  +90.3% WAPE improvement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80% Prediction Interval calibration: 80.0% empirical coverage  -&gt;  WELL-CALIBRATED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Non-normal residuals (kurtosis=44.3): 1.20x robustness buffer applied to safety stock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&gt;  27-lag features + holiday/marketing regressors are the key drivers of LGBM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The Overstock Problem  —  11,461 Average Days of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7726675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35"/>
                <a:gridCol w="1545335"/>
                <a:gridCol w="1545335"/>
                <a:gridCol w="1545335"/>
                <a:gridCol w="1545335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Warehouse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Utilisation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Units Held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Days Cover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WH-CENTRAL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1,797,061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11,537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WH-EAST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1,541.0%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1,818,359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11,674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WH-NORTH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1,518.1%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1,821,735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11,695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WH-SOUTH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1,604.3%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1,844,982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11,844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WH-WEST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1,494.9%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1,644,380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10,557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1097280"/>
            <a:ext cx="3611880" cy="24231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17043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PRIORITY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572768"/>
            <a:ext cx="34290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Staged inventory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liquidation programme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Target: &lt; 100% utilisation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Eliminate: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$406,381/day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holding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30752"/>
            <a:ext cx="11548872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03904"/>
            <a:ext cx="112745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2F3E"/>
                </a:solidFill>
              </a:rPr>
              <a:t>  Cost of inaction (holding cost — Story 1):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Daily:   $406,381.70 / day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Weekly:  $406,381.70 x 7  =  $2,844,672 / week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12-week: $406,381.70 x 84 =  $34,136,063</a:t>
            </a:r>
          </a:p>
          <a:p>
            <a:pPr algn="l"/>
            <a:r>
              <a:rPr sz="1200" b="0" i="0">
                <a:solidFill>
                  <a:srgbClr val="232F3E"/>
                </a:solidFill>
              </a:rPr>
              <a:t>  This problem is NOT solved by the LP optimizer — it is a separate capital management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321808"/>
            <a:ext cx="11548872" cy="74980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394960"/>
            <a:ext cx="11365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Recommendation: Begin staged liquidation immediately. Even a 50% reduction eliminates $203K/day  =  $74M/year.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All Categories Predictable  —  XYZ=X Across the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4887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812"/>
                <a:gridCol w="1924812"/>
                <a:gridCol w="1924812"/>
                <a:gridCol w="1924812"/>
                <a:gridCol w="1924812"/>
                <a:gridCol w="1924812"/>
              </a:tblGrid>
              <a:tr h="38535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ABC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XYZ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Revenue %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ELECTRONICS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0.928%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35.22%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Lean replenishment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TOYS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0.440%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Lean replenishment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0.571%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14.61%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Standard replenishment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KITCHEN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0.670%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14.01%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Standard replenishment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HOME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0.718%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9.57%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Consolidate SKUs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BEAUTY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0.617%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3.35%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Consolidate SKUs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950208"/>
            <a:ext cx="11548872" cy="960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23360"/>
            <a:ext cx="113659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CV range 0.44% - 0.93%  -&gt;  all categories well below the 30% XYZ-Z threshold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Lean JIT replenishment is viable across all 6 categories  |  No excess buffer stock justified by demand volatility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074920"/>
            <a:ext cx="1154887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13892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F3E"/>
                </a:solidFill>
              </a:rPr>
              <a:t>Service level targets by ABC class:  A (ELECTRONICS/TOYS) -&gt; 98%/95%  Z=2.054/1.645  |  B (PET/KITCHEN) -&gt; 90%/92%  Z=1.282/1.405  |  C (HOME/BEAUTY) -&gt; 92%/95%  Z=1.405/1.645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961888"/>
            <a:ext cx="11548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ABC: A = top revenue 20% (protect)  |  B = next 30% (standard)  |  C = remaining 50% (lean/consolidate)</a:t>
            </a:r>
          </a:p>
          <a:p>
            <a:pPr algn="l"/>
            <a:r>
              <a:rPr sz="900" b="0" i="1">
                <a:solidFill>
                  <a:srgbClr val="666666"/>
                </a:solidFill>
              </a:rPr>
              <a:t>XYZ: X = CV &lt; 30% (predictable)  |  Y = CV 30-50% (moderate)  |  Z = CV &gt; 50% (unpredictable)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LP Optimizer  —  63% Weekly Shipping Cost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212080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Unoptimised Cross-Lane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$23,461 / week   ($4.20 per unit avg)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75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900"/>
                </a:solidFill>
              </a:rPr>
              <a:t>v  v 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5212080" cy="868680"/>
          </a:xfrm>
          <a:prstGeom prst="rect">
            <a:avLst/>
          </a:prstGeom>
          <a:solidFill>
            <a:srgbClr val="067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50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LP Saving  (home-lane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70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- $14,832 / week   (63.2%)   -&gt;   $770,842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3558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900"/>
                </a:solidFill>
              </a:rPr>
              <a:t>v  v  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521208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30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Optimised Home-Lane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507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$8,629 / week   ($1.545 per unit)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143000"/>
            <a:ext cx="6080760" cy="16916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18872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900"/>
                </a:solidFill>
              </a:rPr>
              <a:t>Carbon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572768"/>
            <a:ext cx="5897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22,781 kg   -&gt;   644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011680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2F2"/>
                </a:solidFill>
              </a:rPr>
              <a:t>97.2% carbon reduction per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999232"/>
            <a:ext cx="6080760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3044952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2F3E"/>
                </a:solidFill>
              </a:rPr>
              <a:t>Pareto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410712"/>
            <a:ext cx="58978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32F3E"/>
                </a:solidFill>
              </a:rPr>
              <a:t>All 3 LP scenarios — cost-only, balanced,</a:t>
            </a:r>
          </a:p>
          <a:p>
            <a:pPr algn="ctr"/>
            <a:r>
              <a:rPr sz="1100" b="0" i="0">
                <a:solidFill>
                  <a:srgbClr val="232F3E"/>
                </a:solidFill>
              </a:rPr>
              <a:t>and carbon-only — produce identical results.</a:t>
            </a:r>
          </a:p>
          <a:p>
            <a:pPr algn="ctr"/>
            <a:r>
              <a:rPr sz="1100" b="0" i="0">
                <a:solidFill>
                  <a:srgbClr val="232F3E"/>
                </a:solidFill>
              </a:rPr>
              <a:t>Home-lane routing minimises BOTH cost AND</a:t>
            </a:r>
          </a:p>
          <a:p>
            <a:pPr algn="ctr"/>
            <a:r>
              <a:rPr sz="1100" b="0" i="0">
                <a:solidFill>
                  <a:srgbClr val="232F3E"/>
                </a:solidFill>
              </a:rPr>
              <a:t>carbon simultaneously across all scenarios.</a:t>
            </a:r>
          </a:p>
          <a:p>
            <a:pPr algn="ctr"/>
            <a:r>
              <a:rPr sz="1100" b="0" i="0">
                <a:solidFill>
                  <a:srgbClr val="232F3E"/>
                </a:solidFill>
              </a:rPr>
              <a:t>Network is already optimally structured.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28032"/>
            <a:ext cx="11548872" cy="65836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82896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Solver: HiGHS via scipy.optimize.linprog  |  120 variables  |  29 constraints  |  All 3 scenarios: status=OPTIMAL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5,585.88 units routed per week  |  24/24 service level segments met  |  0 breaches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100% Service Level  —  Zero Breaches Across 24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48872" cy="621792"/>
          </a:xfrm>
          <a:prstGeom prst="rect">
            <a:avLst/>
          </a:prstGeom>
          <a:solidFill>
            <a:srgbClr val="067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24 / 24 SEGMENTS  —  ALL SERVICE LEVEL TARGETS MET  —  0 BREACHES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74519"/>
          <a:ext cx="115488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812"/>
                <a:gridCol w="1924812"/>
                <a:gridCol w="1924812"/>
                <a:gridCol w="1924812"/>
                <a:gridCol w="1924812"/>
                <a:gridCol w="1924812"/>
              </a:tblGrid>
              <a:tr h="37621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SL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Z-score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Max SS (East)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All Regions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762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ELECTRONICS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2.054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18 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E=18 N=16 S=15 W=17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MET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  <a:tr h="3762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TOYS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8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E=8  N=7  S=7  W=8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MET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  <a:tr h="3762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1.282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7 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E=7  N=6  S=6  W=7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MET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  <a:tr h="3762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KITCHEN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1.405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6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E=6  N=6  S=5  W=6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MET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  <a:tr h="3762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HOME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1.405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 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E=9  N=8  S=8  W=9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MET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  <a:tr h="3762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BEAUTY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1.645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5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E=5  N=4  S=3  W=4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MET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4681728"/>
            <a:ext cx="11548872" cy="932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754880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2F3E"/>
                </a:solidFill>
              </a:rPr>
              <a:t>Safety Stock Formula:   SS = Z  x  residual_std  x  sqrt(avg_lead_time)  x  1.20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Total SS: 134 units across 24 segments  |  Range: 3 - 18 units per segment  |  1.20x buffer applied for kurtosis=44.3 non-normal residuals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760720"/>
            <a:ext cx="11548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Lead times: East=3.0d  |  North=3.0d  |  South=2.8d  |  West=3.2d  |  Residual std from out-of-sample test period (30% holdout)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5 Priority Actions for the Planning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4887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P1  URGENT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Staged inventory liquidation programme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Eliminate $406K/day holding cost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Immediate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P2  QUICK WIN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Home-lane-first routing policy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$14,832/week  ($770,842/year)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This quarter</a:t>
                      </a:r>
                    </a:p>
                  </a:txBody>
                  <a:tcPr>
                    <a:solidFill>
                      <a:srgbClr val="067D62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Deploy LightGBM forecast to production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WAPE 21.5%  -&gt;  automated replenishment signal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This quarter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ELECTRONICS 18-unit safety stock (East)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98% service level maintained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With P3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P5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Consolidate HOME + BEAUTY SKUs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Reduce WH complexity, free capacity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</a:rPr>
                        <a:t>Next quarter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4736592"/>
            <a:ext cx="11548872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80060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2F3E"/>
                </a:solidFill>
              </a:rPr>
              <a:t>Action notes: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P1 is the dominant value driver — every week of delay costs $2.8M. No infrastructure change needed, policy decision only.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P2 requires zero infrastructure change — routing policy update only. Locks in 63.2% shipping saving and 97.2% carbon reduction.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P3 + P4 implemented simultaneously as part of production ML deployment. WAPE 21.5% supports automated SS calculation.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8872"/>
            <a:ext cx="11704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Next Steps and 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Regional Demand Forecasting Optimizer  |  Arvind Swami  |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40680" cy="418795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72768"/>
            <a:ext cx="523036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&gt;  Multi-period rolling horizon LP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Replace single-period model with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multi-week inventory dynamics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&gt;  Live ERP / WMS data integration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Replace synthetic dataset with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real transactional data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&gt;  Stochastic lead time modelling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Replace deterministic assumption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with lead time distributions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&gt;  Supplier MOQ constraints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Add minimum order quantities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&gt;  Promotion spike scenario planning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 Holiday / Prime Day stress testing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97280"/>
            <a:ext cx="5806440" cy="4187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143000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</a:rPr>
              <a:t>Known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572768"/>
            <a:ext cx="562356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2F3E"/>
                </a:solidFill>
              </a:rPr>
              <a:t>&gt;  Synthetic data — real validation required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All cost coefficients are representative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not actual company rates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&gt;  Single-period LP only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No multi-week inventory dynamics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modelled in optimisation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&gt;  Pareto collapse in cost structure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All 3 scenarios give identical allocation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No cost-carbon trade-off exists here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&gt;  No cross-lane demand spillover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Regions treated as independent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&gt;  Deterministic lead times assumed</a:t>
            </a:r>
          </a:p>
          <a:p>
            <a:pPr algn="l"/>
            <a:r>
              <a:rPr sz="1100" b="0" i="0">
                <a:solidFill>
                  <a:srgbClr val="232F3E"/>
                </a:solidFill>
              </a:rPr>
              <a:t>   No lead time variance modelled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468112"/>
            <a:ext cx="11548872" cy="80467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522976"/>
            <a:ext cx="1136599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Rubric improvement target:  64 / 100   -&gt;   85+ / 100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Block 1 gaps closed:  Prophet benchmark  |  PPTX deck  |  SQL queries  |  Executive memo  |  Assumptions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